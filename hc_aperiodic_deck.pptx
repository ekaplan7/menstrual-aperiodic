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ask whether current hormonal-contraceptive use leaves a signature in resting EEG — in both the aperiodic (1/f) component and oscillatory alpha — and whether it survives confound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enormous population exposure, small evidence base on brain effects. Sources: UN World Contraceptive Use / WHO / 2024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Estrogen excitatory (glutamate up, GABA down); progesterone/allopregnanolone inhibitory (GABA-A PAM). HC alters this milieu → predicts E/I shifts readable via aperiodic EEG.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 primer: raw EEG → PSD → specparam decomposition into aperiodic (exponent/offset) and periodic (alpha) parts. Both are analyzed downstream.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LOSO models isolate whether the EEG decode is independent of confounds; the residualized model regresses confounds out within each training fold, then permutation-tests.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 women: 37 current HC users vs 32 non-current (21 past, 11 never). Decode target = current vs non-current.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Confounds: BDI, alcohol, nicotine, cycle length, plus age and education.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Fold-wise residualization prevents leakage; heatmap shows measures are related but not redundant.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Distributions overlap; covariates-only decode near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non-menstruating HC users lack cycle data, missingness is a label proxy; we avoid using it as a confound and verify with complete-case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Confounds alone at chance; EEG decodes 0.70; removing all confounds leaves 0.71 (p~0.02). Not a confound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Distributed topography across channels and exponent/offset in both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drivers (age, nicotine) dominate the global exponent; HC acts on offset / distributed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vs progestin-only: large flatter-exponent effect, spatially diffuse. Exploratory.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power elevated in current HC users, adjusted (1/f-removed), alpha-specific, robust to age+nicotine. The periodic complement to the aperiodic decode.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dissociation: HC use vs non-use -&gt; alpha oscillations; combined vs progestin formulation -&gt; aperiodic exponent. Caveat: formulation comparison underpowered.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Two-part signature + double dissociation as the story; standard limitations and replication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347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FF66C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FFC7E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3108960" cy="3108960"/>
          </a:xfrm>
          <a:prstGeom prst="ellipse">
            <a:avLst/>
          </a:prstGeom>
          <a:solidFill>
            <a:srgbClr val="FF66C4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Hormonal contraception &amp; the resting brain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38328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C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Aperiodic and oscillatory EEG signatures of cortical excitability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4389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ds007615   ·   N = 69 women   ·   resting-state EEG (eyes-closed / eyes-open)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near-universal exposure, an understudied brain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contraception is one of the most widely used medications on earth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4FA"/>
          </a:solidFill>
          <a:ln w="1524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~874M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use modern contraception worldwide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/ WHO, 2021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4FA"/>
          </a:solidFill>
          <a:ln w="1524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2971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reproductive-age women take the pill in 27 countries — highest across Europe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4617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World Contraceptive 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4FA"/>
          </a:solidFill>
          <a:ln w="1524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19659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75320" y="2971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contraceptive prevalence among women (65% of married women 15–49)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75320" y="4617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estimates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B3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of women alter their hormonal milieu daily — yet the effects on brain excitability remain poorly characterized.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 hormones tune cortical excitability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excitation–inhibition (E/I) balance is hormone-sensitive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FF4FA"/>
          </a:solidFill>
          <a:ln w="19050">
            <a:solidFill>
              <a:srgbClr val="FF66C4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Estrogen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glutamate / NMDA signaling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GABAergic inhibition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shifts the balance toward EXCITATION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FFF4FA"/>
          </a:solidFill>
          <a:ln w="19050">
            <a:solidFill>
              <a:srgbClr val="B3478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Progesterone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Metabolite allopregnanolone is a positive GABA-A modulator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Benzodiazepine-like inhibitory action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shifts the balance toward INHIBITION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B3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contraceptives suppress and replace this natural hormonal rhythm — so they should reshape the cortical E/I balance, and the aperiodic EEG lets us read it.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excitability from the EEG spectrum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recording yields two complementary signals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7" name="Image 0" descr="/sessions/vigilant-cool-goodall/mnt/outputs/deck/assets/21_raw_to_ps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09928"/>
            <a:ext cx="5312664" cy="22494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16052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9" name="Image 1" descr="/sessions/vigilant-cool-goodall/mnt/outputs/deck/assets/22_specparam_decomposi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" y="4270248"/>
            <a:ext cx="5312664" cy="22951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1828800"/>
            <a:ext cx="5074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resting power spectrum has an APERIODIC 1/f component — its exponent and offset index the excitation–inhibition balance.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on top are PERIODIC oscillatory peaks — most prominently the alpha rhythm (~10 Hz).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specparam separates the two, per channel, so we can study each independently — the core method of this project.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&amp; the design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resting EEG decode current HC use — </a:t>
            </a:r>
            <a:pPr indent="0" marL="0">
              <a:buNone/>
            </a:pPr>
            <a:r>
              <a:rPr lang="en-US" sz="21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is it neural signal, not confounds?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2587752" cy="27889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905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127248"/>
            <a:ext cx="457200" cy="457200"/>
          </a:xfrm>
          <a:prstGeom prst="ellipse">
            <a:avLst/>
          </a:prstGeom>
          <a:solidFill>
            <a:srgbClr val="FFC7E9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Confounds only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nicotine · alcohol · education · BDI · cycle phase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2221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6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expect ≈ chance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47288" y="2926080"/>
            <a:ext cx="2587752" cy="27889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905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48456" y="3127248"/>
            <a:ext cx="457200" cy="457200"/>
          </a:xfrm>
          <a:prstGeom prst="ellipse">
            <a:avLst/>
          </a:prstGeom>
          <a:solidFill>
            <a:srgbClr val="FFC7E9"/>
          </a:solidFill>
          <a:ln/>
        </p:spPr>
      </p:sp>
      <p:sp>
        <p:nvSpPr>
          <p:cNvPr id="15" name="Text 13"/>
          <p:cNvSpPr/>
          <p:nvPr/>
        </p:nvSpPr>
        <p:spPr>
          <a:xfrm>
            <a:off x="3648456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0168" y="37033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 only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630168" y="42976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+ offset, 64 ch, EC/EO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30168" y="5212080"/>
            <a:ext cx="2221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6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reference decode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2926080"/>
            <a:ext cx="2587752" cy="278892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905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127248"/>
            <a:ext cx="457200" cy="457200"/>
          </a:xfrm>
          <a:prstGeom prst="ellipse">
            <a:avLst/>
          </a:prstGeom>
          <a:solidFill>
            <a:srgbClr val="FFC7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37376" y="37033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 + confounds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37376" y="42976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feature sets together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7376" y="5212080"/>
            <a:ext cx="2221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6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 they add?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61704" y="2926080"/>
            <a:ext cx="2587752" cy="2788920"/>
          </a:xfrm>
          <a:prstGeom prst="roundRect">
            <a:avLst>
              <a:gd name="adj" fmla="val 2827"/>
            </a:avLst>
          </a:prstGeom>
          <a:solidFill>
            <a:srgbClr val="B34789"/>
          </a:solidFill>
          <a:ln w="19050">
            <a:solidFill>
              <a:srgbClr val="B3478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62872" y="3127248"/>
            <a:ext cx="457200" cy="457200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27" name="Text 25"/>
          <p:cNvSpPr/>
          <p:nvPr/>
        </p:nvSpPr>
        <p:spPr>
          <a:xfrm>
            <a:off x="9262872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44584" y="37033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 | confounds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244584" y="42976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confounds regressed out fold-wise + permutation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44584" y="5212080"/>
            <a:ext cx="2221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C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clean test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892040" cy="3703320"/>
          </a:xfrm>
          <a:prstGeom prst="roundRect">
            <a:avLst>
              <a:gd name="adj" fmla="val 1975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6" name="Image 0" descr="/sessions/vigilant-cool-goodall/mnt/outputs/deck/assets/01_sample_hc_grou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01368"/>
            <a:ext cx="4672584" cy="34838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691640"/>
            <a:ext cx="4892040" cy="3703320"/>
          </a:xfrm>
          <a:prstGeom prst="roundRect">
            <a:avLst>
              <a:gd name="adj" fmla="val 1975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8" name="Image 1" descr="/sessions/vigilant-cool-goodall/mnt/outputs/deck/assets/02_age_d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24728" y="1801368"/>
            <a:ext cx="4672584" cy="34838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532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40080" y="6108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297680" y="5532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21 / 11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297680" y="6108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past / never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955280" y="5532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955280" y="6108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we controlled for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of the measured confounds (plus age &amp; education)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7" name="Image 0" descr="/sessions/vigilant-cool-goodall/mnt/outputs/deck/assets/04_bdi_d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09928"/>
            <a:ext cx="5038344" cy="2066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6002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9" name="Image 1" descr="/sessions/vigilant-cool-goodall/mnt/outputs/deck/assets/05_alcohol_d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1709928"/>
            <a:ext cx="5038344" cy="20665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39776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11" name="Image 2" descr="/sessions/vigilant-cool-goodall/mnt/outputs/deck/assets/06_nicotine_count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08" y="4087368"/>
            <a:ext cx="5038344" cy="20665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09360" y="39776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13" name="Image 3" descr="/sessions/vigilant-cool-goodall/mnt/outputs/deck/assets/07_cycle_length_dis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19088" y="4087368"/>
            <a:ext cx="5038344" cy="2066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8521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specparam exponent + offset, eyes-closed and eyes-open, 64 channels (256 features).</a:t>
            </a:r>
            <a:endParaRPr lang="en-US" sz="16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L2-regularized logistic regression, leave-one-subject-out cross-validation.</a:t>
            </a:r>
            <a:endParaRPr lang="en-US" sz="16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 control: fold-wise linear residualization — confounds regressed out of every EEG feature, fit on training data only (leakage-safe).</a:t>
            </a:r>
            <a:endParaRPr lang="en-US" sz="16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500-run label-permutation test on the residualized model.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709160" cy="4480560"/>
          </a:xfrm>
          <a:prstGeom prst="roundRect">
            <a:avLst>
              <a:gd name="adj" fmla="val 1633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7" name="Image 0" descr="/sessions/vigilant-cool-goodall/mnt/outputs/deck/assets/16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67728" y="1847088"/>
            <a:ext cx="4489704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Confounds don't separate the groups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892040" cy="3794760"/>
          </a:xfrm>
          <a:prstGeom prst="roundRect">
            <a:avLst>
              <a:gd name="adj" fmla="val 1928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6" name="Image 0" descr="/sessions/vigilant-cool-goodall/mnt/outputs/deck/assets/08_age_by_gro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01368"/>
            <a:ext cx="4672584" cy="35753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691640"/>
            <a:ext cx="4892040" cy="3794760"/>
          </a:xfrm>
          <a:prstGeom prst="roundRect">
            <a:avLst>
              <a:gd name="adj" fmla="val 1928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8" name="Image 1" descr="/sessions/vigilant-cool-goodall/mnt/outputs/deck/assets/09_bdi_by_grou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24728" y="1801368"/>
            <a:ext cx="4672584" cy="3575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are broadly comparable on the measured confounds — and a confounds-only classifier decodes HC use at roughly chance (AUC ≈ 0.51).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menstrual cycle-phase question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6" name="Image 0" descr="/sessions/vigilant-cool-goodall/mnt/outputs/deck/assets/10_cycle_phase_compo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55648"/>
            <a:ext cx="4672584" cy="3072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645920"/>
            <a:ext cx="4892040" cy="3291840"/>
          </a:xfrm>
          <a:prstGeom prst="roundRect">
            <a:avLst>
              <a:gd name="adj" fmla="val 2222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8" name="Image 1" descr="/sessions/vigilant-cool-goodall/mnt/outputs/deck/assets/11_cycle_phase_missingn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24728" y="1755648"/>
            <a:ext cx="4672584" cy="30723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074920"/>
            <a:ext cx="10881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phase itself barely predicts HC use — it is not a confound of the decode.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phase is missing for ~28% of subjects, and missingness tracks HC use (indicator alone decodes at AUC ≈ 0.66).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phase is mean-imputed; the missingness indicator is NOT used as a confound (it would leak the label). A complete-case sensitivity analysis backs this up.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the aperiodic decode survives full confound control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6" name="Image 0" descr="/sessions/vigilant-cool-goodall/mnt/outputs/deck/assets/17_final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55648"/>
            <a:ext cx="6364224" cy="4626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17830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23544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Confounds only
</a:t>
            </a:r>
            <a:pPr indent="0" marL="0">
              <a:buNone/>
            </a:pPr>
            <a:r>
              <a:rPr lang="en-US" sz="12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chance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3200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235440" y="32461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only
</a:t>
            </a:r>
            <a:pPr indent="0" marL="0">
              <a:buNone/>
            </a:pPr>
            <a:r>
              <a:rPr lang="en-US" sz="12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80960" y="46177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235440" y="46634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| confounds
</a:t>
            </a:r>
            <a:pPr indent="0" marL="0">
              <a:buNone/>
            </a:pPr>
            <a:r>
              <a:rPr lang="en-US" sz="12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residualized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80960" y="5806440"/>
            <a:ext cx="3886200" cy="685800"/>
          </a:xfrm>
          <a:prstGeom prst="roundRect">
            <a:avLst>
              <a:gd name="adj" fmla="val 10667"/>
            </a:avLst>
          </a:prstGeom>
          <a:solidFill>
            <a:srgbClr val="FFF4FA"/>
          </a:solidFill>
          <a:ln w="19050">
            <a:solidFill>
              <a:srgbClr val="FF66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58064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3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p ≈ 0.02  (complete-case n = 50)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aperiodic signal lives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27080" cy="2880360"/>
          </a:xfrm>
          <a:prstGeom prst="roundRect">
            <a:avLst>
              <a:gd name="adj" fmla="val 2540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6" name="Image 0" descr="/sessions/vigilant-cool-goodall/mnt/outputs/deck/assets/hc_coef_topo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09928"/>
            <a:ext cx="10707624" cy="2660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17720"/>
            <a:ext cx="4892040" cy="2011680"/>
          </a:xfrm>
          <a:prstGeom prst="roundRect">
            <a:avLst>
              <a:gd name="adj" fmla="val 3636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8" name="Image 1" descr="/sessions/vigilant-cool-goodall/mnt/outputs/deck/assets/14_exponent_by_grou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" y="4727448"/>
            <a:ext cx="4672584" cy="1792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0" y="4709160"/>
            <a:ext cx="5806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coefficients spread across the scalp — the decode is distributed, not one electrode.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and offset in both eyes-closed and eyes-open contribute.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scalp-average exponent shifts only modestly with HC status (left) — the decode is a pattern.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shapes the aperiodic exponent?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model across all women (n = 69)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69164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7" name="Image 0" descr="/sessions/vigilant-cool-goodall/mnt/outputs/deck/assets/19_exponent_predic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9048" y="1801368"/>
            <a:ext cx="5358384" cy="43068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8308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daily nicotine are the dominant flatteners of the exponent — both significant, EC and EO.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use pushes the exponent up (eyes-open).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HC use barely moves the scalp-average slope — its signal lives in the offset and the distributed pattern.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shows no reliable effect here.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hormonal lead: estrogen-containing contraceptives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· age-adjusted · uncorrected — needs replication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532120" cy="3611880"/>
          </a:xfrm>
          <a:prstGeom prst="roundRect">
            <a:avLst>
              <a:gd name="adj" fmla="val 2025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7" name="Image 0" descr="/sessions/vigilant-cool-goodall/mnt/outputs/deck/assets/18_hc_formulation_expon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55648"/>
            <a:ext cx="5312664" cy="33924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8745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9" name="Image 1" descr="/sessions/vigilant-cool-goodall/mnt/outputs/deck/assets/20_formulation_topo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1984248"/>
            <a:ext cx="5038344" cy="2889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440680"/>
            <a:ext cx="10927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HC users, combined (estrogen-containing) formulations show a markedly flatter exponent than progestin-only (d ≈ 1.0, p ≈ .012) — consistent with estrogen's pro-excitatory action.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is diffuse, not focal: nearly every channel points the same way, but only one survives FDR — a broad cortical shift best summarised by the whole-scalp mean.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periodic side: alpha power is elevated in HC users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532120" cy="4023360"/>
          </a:xfrm>
          <a:prstGeom prst="roundRect">
            <a:avLst>
              <a:gd name="adj" fmla="val 1818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6" name="Image 0" descr="/sessions/vigilant-cool-goodall/mnt/outputs/deck/assets/23_alpha_by_h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755648"/>
            <a:ext cx="5312664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6459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FF4FA"/>
          </a:solidFill>
          <a:ln w="12700">
            <a:solidFill>
              <a:srgbClr val="FFC7E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pic>
        <p:nvPicPr>
          <p:cNvPr id="8" name="Image 1" descr="/sessions/vigilant-cool-goodall/mnt/outputs/deck/assets/24_bandpower_by_h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9088" y="1755648"/>
            <a:ext cx="5038344" cy="3803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806440"/>
            <a:ext cx="10927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HC users show higher oscillatory alpha power (d ≈ 0.76 eyes-open; robust to age and nicotine).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survives 1/f removal → a genuine oscillation, not a by-product of the aperiodic shift — and it is alpha-specific.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66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double dissociation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252728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hormonal contrasts act on different parts of the spectrum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FF4FA"/>
          </a:solidFill>
          <a:ln w="20320">
            <a:solidFill>
              <a:srgbClr val="FF66C4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 use  (vs non-use)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Alpha oscillatory power  (d ≈ 0.76, eyes-open)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aperiodic pattern → decodes at AUC ≈ 0.70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Scalp-average exponent: little change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178308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FF4FA"/>
          </a:solidFill>
          <a:ln w="20320">
            <a:solidFill>
              <a:srgbClr val="B34789"/>
            </a:solidFill>
            <a:prstDash val="solid"/>
          </a:ln>
          <a:effectLst>
            <a:outerShdw sx="100000" sy="100000" kx="0" ky="0" algn="bl" rotWithShape="0" blurRad="76200" dist="38100" dir="5400000">
              <a:srgbClr val="D9A9C6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011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47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  (estrogen vs progestin)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65176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Aperiodic exponent — flatter 1/f  (d ≈ 1.0)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other band powers: no detectable effect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in excitability background, not oscillations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34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use moves the oscillations; estrogen-containing formulation moves the aperiodic background. (Exploratory; formulation contrast underpowered at 16 vs 21.)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347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F66C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FFC7E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HC use leaves a two-part resting-EEG signature: a distributed aperiodic pattern (decodes at AUC ≈ 0.70) and elevated alpha oscillatory power (d ≈ 0.76).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explained by age, nicotine, alcohol, education, depression, or menstrual cycle phase — the aperiodic decode holds under leakage-safe residualization + permutation (p ≈ 0.02).</a:t>
            </a:r>
            <a:endParaRPr lang="en-US" sz="16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dissociation: HC use moves alpha; estrogen-containing formulation flattens the aperiodic exponent (d ≈ 1.0).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7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502920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0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· all-female · cross-sectional · secondary analyses exploratory and uncorrected.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0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phase moved nothing here (underpowered) — a within-subject design is needed.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0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estrogen-vs-progestin exponent effect in an independent, hormone-assayed sample.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2026-07-21T21:51:38Z</dcterms:created>
  <dcterms:modified xsi:type="dcterms:W3CDTF">2026-07-21T21:51:38Z</dcterms:modified>
</cp:coreProperties>
</file>